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E2ECCF-22A9-4F1B-97CC-DF12899BBF13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970BCB-85A6-4F71-9E9E-C081F9D2C33C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9B3A08-1F48-4FED-846E-D090B4026865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6BD8F3-3C2D-4416-B6FE-8D03A788F31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7276AA-3966-4C53-AFC2-5BE57FA556B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BE35C5-8EDA-48FC-8EDD-57E6CD1D25C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EBE3BD-276E-41D6-B00D-88B83433BA19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F21055-BFC2-4DEB-A214-B164A998616C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B03FD4-1B19-4A81-9A8D-1AFB6CC3A69F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2AFB9C-82B7-417B-8F14-D03D0CA36B1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934810-7EC0-4D70-BEEB-6F396E0997BB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Лабораторная работа №10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2914560"/>
            <a:ext cx="640044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Текстовой редактор vi</a:t>
            </a:r>
            <a:br>
              <a:rPr sz="2400"/>
            </a:br>
            <a:br>
              <a:rPr sz="2400"/>
            </a:b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Мвикую Кристиан Кристофер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17.04.2026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Что такое vi?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Экранный редактор Visual display editor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Установлен по умолчанию в большинстве дистрибутивов Linux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Три режима работы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Три режима работы vi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6" name="Content Placeholder 5"/>
          <p:cNvGraphicFramePr/>
          <p:nvPr/>
        </p:nvGraphicFramePr>
        <p:xfrm>
          <a:off x="457200" y="1193760"/>
          <a:ext cx="8229240" cy="11894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Режим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Назначение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Командный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Навигация, удаление, копирование, вставка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Вставки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Ввод и редактирование текста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Последней строки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Сохранение, выход, поиск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Управление курсором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8" name="Content Placeholder 5"/>
          <p:cNvGraphicFramePr/>
          <p:nvPr/>
        </p:nvGraphicFramePr>
        <p:xfrm>
          <a:off x="457200" y="1193760"/>
          <a:ext cx="8229240" cy="1486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Клавиша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Действие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 или ←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Влево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 или →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Вправо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j или ↓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Вниз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k или ↑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Вверх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Команды позиционирования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0" name="Content Placeholder 5"/>
          <p:cNvGraphicFramePr/>
          <p:nvPr/>
        </p:nvGraphicFramePr>
        <p:xfrm>
          <a:off x="457200" y="1193760"/>
          <a:ext cx="8229240" cy="1486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Команда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Действие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 начало строки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$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 конец строки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 конец файла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nG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На строку n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Команды редактирования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2" name="Content Placeholder 5"/>
          <p:cNvGraphicFramePr/>
          <p:nvPr/>
        </p:nvGraphicFramePr>
        <p:xfrm>
          <a:off x="457200" y="1193760"/>
          <a:ext cx="8229240" cy="26762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Команда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Действие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Вставка перед курсором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Вставка после курсора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Новая строка снизу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Новая строка сверху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Удалить символ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dw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Удалить слово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dd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Удалить строку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Отменить действие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Команды режима последней строки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4" name="Content Placeholder 5"/>
          <p:cNvGraphicFramePr/>
          <p:nvPr/>
        </p:nvGraphicFramePr>
        <p:xfrm>
          <a:off x="457200" y="1193760"/>
          <a:ext cx="8229240" cy="1486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Команда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Действие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:w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Сохранить файл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:q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Выйти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:wq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Сохранить и выйти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:q!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Выйти без сохранения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Создание файла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rgbClr val="06287e"/>
                </a:solidFill>
                <a:effectLst/>
                <a:uFillTx/>
                <a:latin typeface="Courier New"/>
              </a:rPr>
              <a:t>vi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hello.sh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Нажмите i для входа в режим вставки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Введите текст: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i="1" u="none" strike="noStrike">
                <a:solidFill>
                  <a:srgbClr val="60a0b0"/>
                </a:solidFill>
                <a:effectLst/>
                <a:uFillTx/>
                <a:latin typeface="Courier New"/>
              </a:rPr>
              <a:t>#!/bin/bash</a:t>
            </a:r>
            <a:br>
              <a:rPr sz="2400"/>
            </a:br>
            <a:r>
              <a:rPr lang="en-US" sz="2400" b="0" u="none" strike="noStrike">
                <a:solidFill>
                  <a:srgbClr val="19177c"/>
                </a:solidFill>
                <a:effectLst/>
                <a:uFillTx/>
                <a:latin typeface="Courier New"/>
              </a:rPr>
              <a:t>HELL</a:t>
            </a:r>
            <a:r>
              <a:rPr lang="en-US" sz="2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=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Hello</a:t>
            </a:r>
            <a:br>
              <a:rPr sz="2400"/>
            </a:br>
            <a:r>
              <a:rPr lang="en-US" sz="2400" b="1" u="none" strike="noStrike">
                <a:solidFill>
                  <a:srgbClr val="007020"/>
                </a:solidFill>
                <a:effectLst/>
                <a:uFillTx/>
                <a:latin typeface="Courier New"/>
              </a:rPr>
              <a:t>function</a:t>
            </a:r>
            <a:r>
              <a:rPr lang="en-US" sz="2400" b="0" u="none" strike="noStrike">
                <a:solidFill>
                  <a:srgbClr val="06287e"/>
                </a:solidFill>
                <a:effectLst/>
                <a:uFillTx/>
                <a:latin typeface="Courier New"/>
              </a:rPr>
              <a:t> hello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2400" b="1" u="none" strike="noStrike">
                <a:solidFill>
                  <a:srgbClr val="007020"/>
                </a:solidFill>
                <a:effectLst/>
                <a:uFillTx/>
                <a:latin typeface="Courier New"/>
              </a:rPr>
              <a:t>{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urier New"/>
              </a:rPr>
              <a:t>local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2400" b="0" u="none" strike="noStrike">
                <a:solidFill>
                  <a:srgbClr val="19177c"/>
                </a:solidFill>
                <a:effectLst/>
                <a:uFillTx/>
                <a:latin typeface="Courier New"/>
              </a:rPr>
              <a:t>HELLO</a:t>
            </a:r>
            <a:r>
              <a:rPr lang="en-US" sz="2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=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World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urier New"/>
              </a:rPr>
              <a:t>echo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2400" b="0" u="none" strike="noStrike">
                <a:solidFill>
                  <a:srgbClr val="19177c"/>
                </a:solidFill>
                <a:effectLst/>
                <a:uFillTx/>
                <a:latin typeface="Courier New"/>
              </a:rPr>
              <a:t>$HELLO</a:t>
            </a:r>
            <a:br>
              <a:rPr sz="2400"/>
            </a:br>
            <a:r>
              <a:rPr lang="en-US" sz="2400" b="1" u="none" strike="noStrike">
                <a:solidFill>
                  <a:srgbClr val="007020"/>
                </a:solidFill>
                <a:effectLst/>
                <a:uFillTx/>
                <a:latin typeface="Courier New"/>
              </a:rPr>
              <a:t>}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urier New"/>
              </a:rPr>
              <a:t>echo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2400" b="0" u="none" strike="noStrike">
                <a:solidFill>
                  <a:srgbClr val="19177c"/>
                </a:solidFill>
                <a:effectLst/>
                <a:uFillTx/>
                <a:latin typeface="Courier New"/>
              </a:rPr>
              <a:t>$HELLO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hello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Сохранение и выход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Нажмите Esc (командный режим)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Нажмите : (режим последней строки)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Введите wq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Нажмите Enter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Picture 1" descr="S14.png"/>
          <p:cNvPicPr/>
          <p:nvPr/>
        </p:nvPicPr>
        <p:blipFill>
          <a:blip r:embed="rId1"/>
          <a:stretch/>
        </p:blipFill>
        <p:spPr>
          <a:xfrm>
            <a:off x="3568680" y="1612800"/>
            <a:ext cx="5105160" cy="10537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0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Сохранение и выход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Сделать файл исполняемым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rgbClr val="06287e"/>
                </a:solidFill>
                <a:effectLst/>
                <a:uFillTx/>
                <a:latin typeface="Courier New"/>
              </a:rPr>
              <a:t>chmod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+x hello.sh</a:t>
            </a:r>
            <a:br>
              <a:rPr sz="1500"/>
            </a:br>
            <a:r>
              <a:rPr lang="en-US" sz="1500" b="0" u="none" strike="noStrike">
                <a:solidFill>
                  <a:srgbClr val="06287e"/>
                </a:solidFill>
                <a:effectLst/>
                <a:uFillTx/>
                <a:latin typeface="Courier New"/>
              </a:rPr>
              <a:t>ls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1500" b="0" u="none" strike="noStrike">
                <a:solidFill>
                  <a:srgbClr val="7d9029"/>
                </a:solidFill>
                <a:effectLst/>
                <a:uFillTx/>
                <a:latin typeface="Courier New"/>
              </a:rPr>
              <a:t>-l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hello.sh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Picture 1" descr="S6.png"/>
          <p:cNvPicPr/>
          <p:nvPr/>
        </p:nvPicPr>
        <p:blipFill>
          <a:blip r:embed="rId1"/>
          <a:stretch/>
        </p:blipFill>
        <p:spPr>
          <a:xfrm>
            <a:off x="3568680" y="1714680"/>
            <a:ext cx="5105160" cy="8506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Исполняемый файл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Редактирование: изменить HELL на HELLO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Установите курсор на HELL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Нажмите i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Введите LLO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Нажмите Esc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7" name="Picture 1" descr="S8.png"/>
          <p:cNvPicPr/>
          <p:nvPr/>
        </p:nvPicPr>
        <p:blipFill>
          <a:blip r:embed="rId1"/>
          <a:stretch/>
        </p:blipFill>
        <p:spPr>
          <a:xfrm>
            <a:off x="3568680" y="1650960"/>
            <a:ext cx="5105160" cy="9903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8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После изменения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Редактирование: исправить LOCAL на local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Установите курсор на LOCAL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Нажмите dw (удалить слово)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Нажмите i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Введите local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Нажмите Esc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1" name="Picture 1" descr="S10.png"/>
          <p:cNvPicPr/>
          <p:nvPr/>
        </p:nvPicPr>
        <p:blipFill>
          <a:blip r:embed="rId1"/>
          <a:stretch/>
        </p:blipFill>
        <p:spPr>
          <a:xfrm>
            <a:off x="3568680" y="1650960"/>
            <a:ext cx="5105160" cy="9903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После исправления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Добавить строку в конец файла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Нажмите G (перейти в конец)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Нажмите o (новая строка снизу)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Введите echo $HELLO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Нажмите Esc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5" name="Picture 1" descr="S11.png"/>
          <p:cNvPicPr/>
          <p:nvPr/>
        </p:nvPicPr>
        <p:blipFill>
          <a:blip r:embed="rId1"/>
          <a:stretch/>
        </p:blipFill>
        <p:spPr>
          <a:xfrm>
            <a:off x="3568680" y="1612800"/>
            <a:ext cx="5105160" cy="10537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Строка добавлена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Удалить последнюю строку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Нажмите G (перейти на последнюю строку)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Нажмите dd (удалить строку)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1" descr="S12.png"/>
          <p:cNvPicPr/>
          <p:nvPr/>
        </p:nvPicPr>
        <p:blipFill>
          <a:blip r:embed="rId1"/>
          <a:stretch/>
        </p:blipFill>
        <p:spPr>
          <a:xfrm>
            <a:off x="3568680" y="1612800"/>
            <a:ext cx="5105160" cy="10537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Строка удалена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Отменить удаление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Нажмите u в командном режиме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Picture 1" descr="S13.png"/>
          <p:cNvPicPr/>
          <p:nvPr/>
        </p:nvPicPr>
        <p:blipFill>
          <a:blip r:embed="rId1"/>
          <a:stretch/>
        </p:blipFill>
        <p:spPr>
          <a:xfrm>
            <a:off x="3568680" y="1612800"/>
            <a:ext cx="5105160" cy="10537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" name="TextBox 3"/>
          <p:cNvSpPr/>
          <p:nvPr/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Строка восстановлена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Итоговый скрипт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i="1" u="none" strike="noStrike">
                <a:solidFill>
                  <a:srgbClr val="60a0b0"/>
                </a:solidFill>
                <a:effectLst/>
                <a:uFillTx/>
                <a:latin typeface="Courier New"/>
              </a:rPr>
              <a:t>#!/bin/bash</a:t>
            </a:r>
            <a:br>
              <a:rPr sz="2400"/>
            </a:br>
            <a:r>
              <a:rPr lang="en-US" sz="2400" b="0" u="none" strike="noStrike">
                <a:solidFill>
                  <a:srgbClr val="19177c"/>
                </a:solidFill>
                <a:effectLst/>
                <a:uFillTx/>
                <a:latin typeface="Courier New"/>
              </a:rPr>
              <a:t>HELL</a:t>
            </a:r>
            <a:r>
              <a:rPr lang="en-US" sz="2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=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Hello</a:t>
            </a:r>
            <a:br>
              <a:rPr sz="2400"/>
            </a:br>
            <a:r>
              <a:rPr lang="en-US" sz="2400" b="1" u="none" strike="noStrike">
                <a:solidFill>
                  <a:srgbClr val="007020"/>
                </a:solidFill>
                <a:effectLst/>
                <a:uFillTx/>
                <a:latin typeface="Courier New"/>
              </a:rPr>
              <a:t>function</a:t>
            </a:r>
            <a:r>
              <a:rPr lang="en-US" sz="2400" b="0" u="none" strike="noStrike">
                <a:solidFill>
                  <a:srgbClr val="06287e"/>
                </a:solidFill>
                <a:effectLst/>
                <a:uFillTx/>
                <a:latin typeface="Courier New"/>
              </a:rPr>
              <a:t> hello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2400" b="1" u="none" strike="noStrike">
                <a:solidFill>
                  <a:srgbClr val="007020"/>
                </a:solidFill>
                <a:effectLst/>
                <a:uFillTx/>
                <a:latin typeface="Courier New"/>
              </a:rPr>
              <a:t>{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urier New"/>
              </a:rPr>
              <a:t>local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2400" b="0" u="none" strike="noStrike">
                <a:solidFill>
                  <a:srgbClr val="19177c"/>
                </a:solidFill>
                <a:effectLst/>
                <a:uFillTx/>
                <a:latin typeface="Courier New"/>
              </a:rPr>
              <a:t>HELLO</a:t>
            </a:r>
            <a:r>
              <a:rPr lang="en-US" sz="2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=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World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</a:t>
            </a: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urier New"/>
              </a:rPr>
              <a:t>echo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2400" b="0" u="none" strike="noStrike">
                <a:solidFill>
                  <a:srgbClr val="19177c"/>
                </a:solidFill>
                <a:effectLst/>
                <a:uFillTx/>
                <a:latin typeface="Courier New"/>
              </a:rPr>
              <a:t>$HELLO</a:t>
            </a:r>
            <a:br>
              <a:rPr sz="2400"/>
            </a:br>
            <a:r>
              <a:rPr lang="en-US" sz="2400" b="1" u="none" strike="noStrike">
                <a:solidFill>
                  <a:srgbClr val="007020"/>
                </a:solidFill>
                <a:effectLst/>
                <a:uFillTx/>
                <a:latin typeface="Courier New"/>
              </a:rPr>
              <a:t>}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urier New"/>
              </a:rPr>
              <a:t>echo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2400" b="0" u="none" strike="noStrike">
                <a:solidFill>
                  <a:srgbClr val="19177c"/>
                </a:solidFill>
                <a:effectLst/>
                <a:uFillTx/>
                <a:latin typeface="Courier New"/>
              </a:rPr>
              <a:t>$HELLO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hello</a:t>
            </a:r>
            <a:br>
              <a:rPr sz="2400"/>
            </a:br>
            <a:r>
              <a:rPr lang="en-US" sz="2400" b="0" u="none" strike="noStrike">
                <a:solidFill>
                  <a:srgbClr val="008000"/>
                </a:solidFill>
                <a:effectLst/>
                <a:uFillTx/>
                <a:latin typeface="Courier New"/>
              </a:rPr>
              <a:t>echo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US" sz="2400" b="0" u="none" strike="noStrike">
                <a:solidFill>
                  <a:srgbClr val="19177c"/>
                </a:solidFill>
                <a:effectLst/>
                <a:uFillTx/>
                <a:latin typeface="Courier New"/>
              </a:rPr>
              <a:t>$HELLO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Сводка команд vi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08" name="Content Placeholder 5"/>
          <p:cNvGraphicFramePr/>
          <p:nvPr/>
        </p:nvGraphicFramePr>
        <p:xfrm>
          <a:off x="457200" y="1193760"/>
          <a:ext cx="8229240" cy="23788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Режим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Команда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Действие</a:t>
                      </a:r>
                      <a:endParaRPr lang="en-US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Командный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h/j/k/l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Перемещение курсора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Командный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 конец файла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Командный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dd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Удалить строку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Командный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dw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Удалить слово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Командный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Отменить действие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Вставки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i/a/o/O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Вход в режим вставки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Последней строки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:wq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Сохранить и выйти</a:t>
                      </a:r>
                      <a:endParaRPr lang="en-US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Основные выводы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Всегда нажимайте Esc перед сменой режимов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 различает регистр букв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Практика помогает освоить vi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Спасибо за внимание!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Мвикую Кристиан Кристофер Группа НБИБД-02-25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2026-04-17T00:57:07Z</dcterms:created>
  <dc:creator>Мвикую Кристиан Кристофер</dc:creator>
  <dc:description/>
  <dc:language>en-US</dc:language>
  <cp:lastModifiedBy/>
  <dcterms:modified xsi:type="dcterms:W3CDTF">2026-04-17T03:58:51Z</dcterms:modified>
  <cp:revision>1</cp:revision>
  <dc:subject/>
  <dc:title>Лабораторная работа №10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17.04.2026</vt:lpwstr>
  </property>
  <property fmtid="{D5CDD505-2E9C-101B-9397-08002B2CF9AE}" pid="3" name="format">
    <vt:lpwstr>revealjs</vt:lpwstr>
  </property>
  <property fmtid="{D5CDD505-2E9C-101B-9397-08002B2CF9AE}" pid="4" name="subtitle">
    <vt:lpwstr>Текстовой редактор vi</vt:lpwstr>
  </property>
</Properties>
</file>