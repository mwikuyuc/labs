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7BE231-0BE7-4CA8-80B1-91FF736E35B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ECE13B-090A-4410-B072-3386F9EA073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D1FEB8-56DB-41B2-876B-E5605B03F11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BA93A7-97BD-4BC2-B4DF-B34A669FBB67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990044-367E-403F-A6F7-270CA6BAF0A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83C290-FFEB-415D-91DF-82D7FDDADEA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7B4EBD-228C-4538-A131-D39F5B3B532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24C433-0BF4-40D4-B199-51261B82524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C452B0-1165-4FD5-A5E8-FD23C91D45B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14FAAA-B23D-425B-A43E-FB04936D60D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837863-7847-4B7D-8DF4-0B5DF807ED8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Лабораторная работа №11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Текстовой редактор emacs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Мвикую Кристиан Кристофер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22.04.2026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Цель работы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Познакомиться с операционной системой Linux. Получить практические навыки работы с редактором Emacs.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Основные термины Emacs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Буфер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объект, представляющий какой-либо текст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Фрейм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соответствует окну в обычном понимании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Окно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прямоугольная область фрейма, отображающая буфер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Область вывода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строки внизу фрейма для сообщений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Минибуфер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для ввода дополнительной информации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Точка вставки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место вставки данных в буфере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Обозначения клавиш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8" name="Content Placeholder 5"/>
          <p:cNvGraphicFramePr/>
          <p:nvPr/>
        </p:nvGraphicFramePr>
        <p:xfrm>
          <a:off x="457200" y="1193760"/>
          <a:ext cx="8229240" cy="11894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Обозначение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Клавиша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Ctrl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M-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Meta (Alt или Esc)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S-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Shift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C-x C-c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→ Ctrl+x, затем Ctrl+c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Установка Emacs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Picture 1" descr="S1.png"/>
          <p:cNvPicPr/>
          <p:nvPr/>
        </p:nvPicPr>
        <p:blipFill>
          <a:blip r:embed="rId1"/>
          <a:stretch/>
        </p:blipFill>
        <p:spPr>
          <a:xfrm>
            <a:off x="457200" y="1308240"/>
            <a:ext cx="8229240" cy="2666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Установка Emacs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Перед началом работы Emacs не был установлен в системе.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Запуск Emacs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Picture 1" descr="S3.png"/>
          <p:cNvPicPr/>
          <p:nvPr/>
        </p:nvPicPr>
        <p:blipFill>
          <a:blip r:embed="rId1"/>
          <a:stretch/>
        </p:blipFill>
        <p:spPr>
          <a:xfrm>
            <a:off x="1803240" y="1193760"/>
            <a:ext cx="552420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Запуск Emacs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72072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Приветственный экран GNU Emacs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Создание файла lab11.sh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1" descr="S4.png"/>
          <p:cNvPicPr/>
          <p:nvPr/>
        </p:nvPicPr>
        <p:blipFill>
          <a:blip r:embed="rId1"/>
          <a:stretch/>
        </p:blipFill>
        <p:spPr>
          <a:xfrm>
            <a:off x="457200" y="1371600"/>
            <a:ext cx="8229240" cy="2526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Создание файла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228960" y="91440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Команда: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C-x C-f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Ввод текста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60a0b0"/>
                </a:solidFill>
                <a:effectLst/>
                <a:uFillTx/>
                <a:latin typeface="Courier New"/>
              </a:rPr>
              <a:t>#!/bin/bash</a:t>
            </a:r>
            <a:br>
              <a:rPr sz="1050"/>
            </a:br>
            <a:r>
              <a:rPr lang="en-US" sz="105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HELLO</a:t>
            </a: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Hello</a:t>
            </a:r>
            <a:br>
              <a:rPr sz="1050"/>
            </a:br>
            <a:r>
              <a:rPr lang="en-US" sz="105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function</a:t>
            </a:r>
            <a:r>
              <a:rPr lang="en-US" sz="1050" b="0" u="none" strike="noStrike">
                <a:solidFill>
                  <a:srgbClr val="06287e"/>
                </a:solidFill>
                <a:effectLst/>
                <a:uFillTx/>
                <a:latin typeface="Courier New"/>
              </a:rPr>
              <a:t> hello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105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{</a:t>
            </a:r>
            <a:br>
              <a:rPr sz="1050"/>
            </a:b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LOCAL HELLO=World</a:t>
            </a:r>
            <a:br>
              <a:rPr sz="1050"/>
            </a:b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105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$HELLO</a:t>
            </a:r>
            <a:br>
              <a:rPr sz="1050"/>
            </a:br>
            <a:r>
              <a:rPr lang="en-US" sz="105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}</a:t>
            </a:r>
            <a:br>
              <a:rPr sz="1050"/>
            </a:br>
            <a:r>
              <a:rPr lang="en-US" sz="105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$HELLO</a:t>
            </a:r>
            <a:br>
              <a:rPr sz="1050"/>
            </a:b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hello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Picture 1" descr="S5.png"/>
          <p:cNvPicPr/>
          <p:nvPr/>
        </p:nvPicPr>
        <p:blipFill>
          <a:blip r:embed="rId1"/>
          <a:stretch/>
        </p:blipFill>
        <p:spPr>
          <a:xfrm>
            <a:off x="3568680" y="1473120"/>
            <a:ext cx="5105160" cy="13456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5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Ввод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Файл после ввода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Picture 1" descr="S6.png"/>
          <p:cNvPicPr/>
          <p:nvPr/>
        </p:nvPicPr>
        <p:blipFill>
          <a:blip r:embed="rId1"/>
          <a:stretch/>
        </p:blipFill>
        <p:spPr>
          <a:xfrm>
            <a:off x="686160" y="1499040"/>
            <a:ext cx="8229240" cy="2158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Содержимое файла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Работа с буферами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1" descr="S12.png"/>
          <p:cNvPicPr/>
          <p:nvPr/>
        </p:nvPicPr>
        <p:blipFill>
          <a:blip r:embed="rId1"/>
          <a:stretch/>
        </p:blipFill>
        <p:spPr>
          <a:xfrm>
            <a:off x="1384200" y="1193760"/>
            <a:ext cx="636228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1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Список буферов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6825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Команда: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C-x C-b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Управление буферами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Picture 1" descr="S13.png"/>
          <p:cNvPicPr/>
          <p:nvPr/>
        </p:nvPicPr>
        <p:blipFill>
          <a:blip r:embed="rId1"/>
          <a:stretch/>
        </p:blipFill>
        <p:spPr>
          <a:xfrm>
            <a:off x="457200" y="1346040"/>
            <a:ext cx="8229240" cy="2577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Управление буферами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Переключение между буферами: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C-x b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Список буферов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1" descr="S14.png"/>
          <p:cNvPicPr/>
          <p:nvPr/>
        </p:nvPicPr>
        <p:blipFill>
          <a:blip r:embed="rId1"/>
          <a:stretch/>
        </p:blipFill>
        <p:spPr>
          <a:xfrm>
            <a:off x="457200" y="1371600"/>
            <a:ext cx="8229240" cy="2577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9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Буферы в Emacs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56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Управление окнами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Picture 1" descr="S15.png"/>
          <p:cNvPicPr/>
          <p:nvPr/>
        </p:nvPicPr>
        <p:blipFill>
          <a:blip r:embed="rId1"/>
          <a:stretch/>
        </p:blipFill>
        <p:spPr>
          <a:xfrm>
            <a:off x="1905120" y="1502640"/>
            <a:ext cx="533376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" name="TextBox 3"/>
          <p:cNvSpPr/>
          <p:nvPr/>
        </p:nvSpPr>
        <p:spPr>
          <a:xfrm>
            <a:off x="457200" y="434340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Разделение окон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560" y="106272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C-x 2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разделить по горизонтали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C-x 3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разделить по вертикали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Множественные окна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Picture 1" descr="S16.png"/>
          <p:cNvPicPr/>
          <p:nvPr/>
        </p:nvPicPr>
        <p:blipFill>
          <a:blip r:embed="rId1"/>
          <a:stretch/>
        </p:blipFill>
        <p:spPr>
          <a:xfrm>
            <a:off x="457200" y="1625760"/>
            <a:ext cx="8229240" cy="2006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6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Четыре окна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Навигация между окнами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8" name="Picture 1" descr="S17.png"/>
          <p:cNvPicPr/>
          <p:nvPr/>
        </p:nvPicPr>
        <p:blipFill>
          <a:blip r:embed="rId1"/>
          <a:stretch/>
        </p:blipFill>
        <p:spPr>
          <a:xfrm>
            <a:off x="1790640" y="1460880"/>
            <a:ext cx="556236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9" name="TextBox 3"/>
          <p:cNvSpPr/>
          <p:nvPr/>
        </p:nvSpPr>
        <p:spPr>
          <a:xfrm>
            <a:off x="457560" y="429300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Окна с разными буферами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560" y="94932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C-x 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переключиться на другое окно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Редактирование текста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1" descr="S7.png"/>
          <p:cNvPicPr/>
          <p:nvPr/>
        </p:nvPicPr>
        <p:blipFill>
          <a:blip r:embed="rId1"/>
          <a:stretch/>
        </p:blipFill>
        <p:spPr>
          <a:xfrm>
            <a:off x="457200" y="1206360"/>
            <a:ext cx="8229240" cy="2857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3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Копирование и вставка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C-k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удалить строку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вставить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вырезать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M-w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скопировать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Операции с текстом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6" name="Picture 1" descr="S8.png"/>
          <p:cNvPicPr/>
          <p:nvPr/>
        </p:nvPicPr>
        <p:blipFill>
          <a:blip r:embed="rId1"/>
          <a:stretch/>
        </p:blipFill>
        <p:spPr>
          <a:xfrm>
            <a:off x="457200" y="1206360"/>
            <a:ext cx="8229240" cy="2857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7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Вырезание и вставка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Вставка текста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Picture 1" descr="S9.png"/>
          <p:cNvPicPr/>
          <p:nvPr/>
        </p:nvPicPr>
        <p:blipFill>
          <a:blip r:embed="rId1"/>
          <a:stretch/>
        </p:blipFill>
        <p:spPr>
          <a:xfrm>
            <a:off x="1003320" y="1193760"/>
            <a:ext cx="713700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0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Вставка скопированного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Поиск текста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2" name="Picture 1" descr="S19.png"/>
          <p:cNvPicPr/>
          <p:nvPr/>
        </p:nvPicPr>
        <p:blipFill>
          <a:blip r:embed="rId1"/>
          <a:stretch/>
        </p:blipFill>
        <p:spPr>
          <a:xfrm>
            <a:off x="1587600" y="1193760"/>
            <a:ext cx="595584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Поиск слова World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7070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Команда: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C-s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Результат поиска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1" descr="S20.png"/>
          <p:cNvPicPr/>
          <p:nvPr/>
        </p:nvPicPr>
        <p:blipFill>
          <a:blip r:embed="rId1"/>
          <a:stretch/>
        </p:blipFill>
        <p:spPr>
          <a:xfrm>
            <a:off x="1587600" y="1193760"/>
            <a:ext cx="595584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7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Результат поиска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Замена текста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1" descr="S22.png"/>
          <p:cNvPicPr/>
          <p:nvPr/>
        </p:nvPicPr>
        <p:blipFill>
          <a:blip r:embed="rId1"/>
          <a:stretch/>
        </p:blipFill>
        <p:spPr>
          <a:xfrm>
            <a:off x="1587600" y="1193760"/>
            <a:ext cx="595584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0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Замена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68580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Команда: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M-%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5760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Результат замены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1" descr="S23.png"/>
          <p:cNvPicPr/>
          <p:nvPr/>
        </p:nvPicPr>
        <p:blipFill>
          <a:blip r:embed="rId1"/>
          <a:stretch/>
        </p:blipFill>
        <p:spPr>
          <a:xfrm>
            <a:off x="1587600" y="1193760"/>
            <a:ext cx="595584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Результат замены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72072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Заменено 2 вхождения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Финальное содержимое файла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rgbClr val="60a0b0"/>
                </a:solidFill>
                <a:effectLst/>
                <a:uFillTx/>
                <a:latin typeface="Courier New"/>
              </a:rPr>
              <a:t>#!/bin/bash</a:t>
            </a:r>
            <a:br>
              <a:rPr sz="2400"/>
            </a:b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HELLO</a:t>
            </a: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Hello</a:t>
            </a:r>
            <a:br>
              <a:rPr sz="2400"/>
            </a:b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function</a:t>
            </a:r>
            <a:r>
              <a:rPr lang="en-US" sz="2400" b="0" u="none" strike="noStrike">
                <a:solidFill>
                  <a:srgbClr val="06287e"/>
                </a:solidFill>
                <a:effectLst/>
                <a:uFillTx/>
                <a:latin typeface="Courier New"/>
              </a:rPr>
              <a:t> hello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{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LOCAL HELLO=World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$Hi</a:t>
            </a:r>
            <a:br>
              <a:rPr sz="2400"/>
            </a:b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}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$Hi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hello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Основные команды навигации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39" name="Content Placeholder 5"/>
          <p:cNvGraphicFramePr/>
          <p:nvPr/>
        </p:nvGraphicFramePr>
        <p:xfrm>
          <a:off x="457200" y="1193760"/>
          <a:ext cx="8229240" cy="26762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Команда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Начало строки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Конец строки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C-p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Строка вверх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Строка вниз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C-f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Символ вперед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C-b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Символ назад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M-&lt;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Начало буфера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M-&gt;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Конец буфера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Команды редактирования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1" name="Content Placeholder 5"/>
          <p:cNvGraphicFramePr/>
          <p:nvPr/>
        </p:nvGraphicFramePr>
        <p:xfrm>
          <a:off x="457200" y="1193760"/>
          <a:ext cx="8229240" cy="17841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Команда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C-k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Удалить строку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Вставить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C-w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Вырезать выделенное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M-w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Скопировать выделенное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C-/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Отменить действие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Команды работы с буферами и окнами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3" name="Content Placeholder 5"/>
          <p:cNvGraphicFramePr/>
          <p:nvPr/>
        </p:nvGraphicFramePr>
        <p:xfrm>
          <a:off x="457200" y="1193760"/>
          <a:ext cx="8229240" cy="26762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Команда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C-x C-f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Открыть файл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C-x C-s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Сохранить файл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C-x C-b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Список буферов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C-x b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Переключить буфер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C-x 2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Разделить окно по горизонтали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C-x 3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Разделить окно по вертикали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C-x o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Переключиться на другое окно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C-x 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Закрыть текущее окно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Команды поиска и замены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5" name="Content Placeholder 5"/>
          <p:cNvGraphicFramePr/>
          <p:nvPr/>
        </p:nvGraphicFramePr>
        <p:xfrm>
          <a:off x="457200" y="1193760"/>
          <a:ext cx="8229240" cy="11894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Команда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Поиск вперед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C-r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Поиск назад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M-%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Поиск и замена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Ошибки и их решение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7" name="Content Placeholder 5"/>
          <p:cNvGraphicFramePr/>
          <p:nvPr/>
        </p:nvGraphicFramePr>
        <p:xfrm>
          <a:off x="457200" y="1193760"/>
          <a:ext cx="8229240" cy="1486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Ошибка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Решение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emacs: command not found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Установка: 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sudo dnf install emacs-nw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emacs: standard input is not a tty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Игнорировать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I-search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не находит слово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Нажимать 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C-s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повторно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C-k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не удаляет строку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Сначала 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C-a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, затем 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C-k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Выводы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✅ Установлен и настроен Emacs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✅ Создан файл lab11.sh с bash-скриптом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✅ Освоены команды навигации и редактирования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✅ Изучена работа с буферами и окнами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✅ Выполнен поиск и замена текста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Спасибо за внимание!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Вопросы?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Подпись: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____________________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Дата: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22.04.2026 ```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2026-04-22T01:37:41Z</dcterms:created>
  <dc:creator>Мвикую Кристиан Кристофер</dc:creator>
  <dc:description/>
  <dc:language>en-US</dc:language>
  <cp:lastModifiedBy/>
  <dcterms:modified xsi:type="dcterms:W3CDTF">2026-04-22T04:45:08Z</dcterms:modified>
  <cp:revision>1</cp:revision>
  <dc:subject/>
  <dc:title>Лабораторная работа №11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22.04.2026</vt:lpwstr>
  </property>
  <property fmtid="{D5CDD505-2E9C-101B-9397-08002B2CF9AE}" pid="3" name="format">
    <vt:lpwstr/>
  </property>
  <property fmtid="{D5CDD505-2E9C-101B-9397-08002B2CF9AE}" pid="4" name="institute">
    <vt:lpwstr>РУДН, группа НБИБД-02-25</vt:lpwstr>
  </property>
  <property fmtid="{D5CDD505-2E9C-101B-9397-08002B2CF9AE}" pid="5" name="subtitle">
    <vt:lpwstr>Текстовой редактор emacs</vt:lpwstr>
  </property>
</Properties>
</file>